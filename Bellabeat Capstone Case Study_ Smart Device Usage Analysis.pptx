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ExtraBold"/>
      <p:bold r:id="rId23"/>
      <p:boldItalic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92D1F9-7FE0-4908-94B3-2022CEF07991}">
  <a:tblStyle styleId="{9592D1F9-7FE0-4908-94B3-2022CEF079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ExtraBold-boldItalic.fntdata"/><Relationship Id="rId23" Type="http://schemas.openxmlformats.org/officeDocument/2006/relationships/font" Target="fonts/Roboto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962237b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962237b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f962237b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f962237b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9d890330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9d89033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9d89033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9d89033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9d890330_0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9d89033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9d89033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f9d89033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f9d8903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f9d8903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9d89033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9d89033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f9d89033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f9d89033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962237b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f962237b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f9d89033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f9d89033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arashnic/fitbit" TargetMode="External"/><Relationship Id="rId4" Type="http://schemas.openxmlformats.org/officeDocument/2006/relationships/hyperlink" Target="https://www.kaggle.com/datasets/arashnic/fitb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u/0/d/1ktDOR3MXJlCpog5bepXQ9g-v0YMBjr0Ze1uPAZl9xO4/edit" TargetMode="External"/><Relationship Id="rId4" Type="http://schemas.openxmlformats.org/officeDocument/2006/relationships/hyperlink" Target="https://drive.google.com/file/d/1AA5LDKsX8PV1cur3wuV0w__sOtuOMRkD/view?usp=sharing" TargetMode="External"/><Relationship Id="rId5" Type="http://schemas.openxmlformats.org/officeDocument/2006/relationships/hyperlink" Target="https://drive.google.com/open?id=14RgTuIBGmc0yfQe-Lj-DGu-A6h1dFRA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Bellabeat Capstone Case Study: Smart Device Usage Analysis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664250" y="371658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on 02/06/2025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590550" y="328368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MUTHUSRIHEMADHARSHINI S.A.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158700" y="430360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 Table of contents 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830725" y="679200"/>
            <a:ext cx="4644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ExtraBold"/>
                <a:ea typeface="Roboto ExtraBold"/>
                <a:cs typeface="Roboto ExtraBold"/>
                <a:sym typeface="Roboto ExtraBold"/>
              </a:rPr>
              <a:t>    </a:t>
            </a:r>
            <a:r>
              <a:rPr lang="en">
                <a:latin typeface="Roboto ExtraBold"/>
                <a:ea typeface="Roboto ExtraBold"/>
                <a:cs typeface="Roboto ExtraBold"/>
                <a:sym typeface="Roboto ExtraBold"/>
              </a:rPr>
              <a:t>      </a:t>
            </a:r>
            <a:r>
              <a:rPr lang="en" u="sng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roject Overview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Business Objectives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Tools &amp; Datasets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Key Visuals: Sleep vs Steps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Recommendations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Key Visuals: Calories vs Steps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Recommendations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 Noteworthy Visuals -1 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   Noteworthy Visuals - 2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4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   </a:t>
            </a:r>
            <a:r>
              <a:rPr lang="en">
                <a:solidFill>
                  <a:schemeClr val="dk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  Impact &amp; Business Value</a:t>
            </a:r>
            <a:endParaRPr>
              <a:solidFill>
                <a:schemeClr val="dk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672825" y="186600"/>
            <a:ext cx="40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</a:t>
            </a:r>
            <a:r>
              <a:rPr lang="en" sz="2000">
                <a:solidFill>
                  <a:schemeClr val="lt1"/>
                </a:solidFill>
              </a:rPr>
              <a:t>     Table of contents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369875" y="745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Personal Reflection or Learning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455475" y="13169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1600">
              <a:solidFill>
                <a:srgbClr val="4285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    </a:t>
            </a:r>
            <a:r>
              <a:rPr b="1" lang="en" sz="2200"/>
              <a:t>Business Objective</a:t>
            </a:r>
            <a:endParaRPr b="1" sz="2200"/>
          </a:p>
        </p:txBody>
      </p:sp>
      <p:sp>
        <p:nvSpPr>
          <p:cNvPr id="84" name="Google Shape;84;p15"/>
          <p:cNvSpPr txBox="1"/>
          <p:nvPr/>
        </p:nvSpPr>
        <p:spPr>
          <a:xfrm>
            <a:off x="351300" y="1311550"/>
            <a:ext cx="8320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Analyze smart device usage patterns among female users</a:t>
            </a:r>
            <a:b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Identify trends in</a:t>
            </a:r>
            <a:r>
              <a:rPr lang="en" sz="2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 activity</a:t>
            </a: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2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sleep</a:t>
            </a: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2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health metrics</a:t>
            </a:r>
            <a:br>
              <a:rPr lang="en" sz="2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Translate insights into actionable </a:t>
            </a:r>
            <a:r>
              <a:rPr lang="en" sz="2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marketing strategies</a:t>
            </a:r>
            <a:endParaRPr sz="2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                                 </a:t>
            </a:r>
            <a:r>
              <a:rPr b="1" lang="en" sz="2400"/>
              <a:t>             Tools &amp; Datasets</a:t>
            </a:r>
            <a:endParaRPr b="1" sz="2400"/>
          </a:p>
        </p:txBody>
      </p:sp>
      <p:sp>
        <p:nvSpPr>
          <p:cNvPr id="90" name="Google Shape;90;p16">
            <a:hlinkClick r:id="rId3"/>
          </p:cNvPr>
          <p:cNvSpPr txBox="1"/>
          <p:nvPr/>
        </p:nvSpPr>
        <p:spPr>
          <a:xfrm>
            <a:off x="175600" y="1402750"/>
            <a:ext cx="466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Dataset used </a:t>
            </a:r>
            <a:r>
              <a:rPr lang="en" sz="1800"/>
              <a:t>: </a:t>
            </a:r>
            <a:r>
              <a:rPr lang="en" sz="17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FitBit Fitness Tracker Data</a:t>
            </a:r>
            <a:endParaRPr sz="17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16"/>
          <p:cNvSpPr txBox="1"/>
          <p:nvPr/>
        </p:nvSpPr>
        <p:spPr>
          <a:xfrm>
            <a:off x="228100" y="2842750"/>
            <a:ext cx="45618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Tools used</a:t>
            </a:r>
            <a:r>
              <a:rPr lang="en" sz="1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Google sheets , R studio </a:t>
            </a:r>
            <a:endParaRPr sz="1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28100" y="2141650"/>
            <a:ext cx="40602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: Kaagle</a:t>
            </a:r>
            <a:endParaRPr sz="1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7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98" name="Google Shape;98;p17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17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17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17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17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7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7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7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7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7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08" name="Google Shape;108;p17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0" y="-838975"/>
            <a:ext cx="4507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</a:rPr>
              <a:t>Sleep Duration vs Steps</a:t>
            </a:r>
            <a:endParaRPr b="1" sz="3100">
              <a:solidFill>
                <a:schemeClr val="dk1"/>
              </a:solidFill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5406784" y="1845971"/>
            <a:ext cx="2993613" cy="1573620"/>
            <a:chOff x="1500000" y="2393988"/>
            <a:chExt cx="3243000" cy="1704713"/>
          </a:xfrm>
        </p:grpSpPr>
        <p:sp>
          <p:nvSpPr>
            <p:cNvPr id="111" name="Google Shape;111;p17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7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17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21" name="Google Shape;121;p17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22" name="Google Shape;122;p17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7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5500" y="856225"/>
            <a:ext cx="4336200" cy="1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 </a:t>
            </a:r>
            <a:r>
              <a:rPr b="1" lang="en" sz="1700" u="sng">
                <a:solidFill>
                  <a:schemeClr val="lt2"/>
                </a:solidFill>
              </a:rPr>
              <a:t>What the Chart Shows:</a:t>
            </a:r>
            <a:endParaRPr b="1" sz="1700" u="sng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count </a:t>
            </a:r>
            <a:r>
              <a:rPr b="1" lang="en" sz="1500">
                <a:solidFill>
                  <a:schemeClr val="dk1"/>
                </a:solidFill>
              </a:rPr>
              <a:t>fluctuates across different sleep durations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strong linear trend — but </a:t>
            </a:r>
            <a:r>
              <a:rPr b="1" lang="en" sz="1500">
                <a:solidFill>
                  <a:schemeClr val="dk1"/>
                </a:solidFill>
              </a:rPr>
              <a:t>moderate sleepers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/>
              <a:t>tend to be more active</a:t>
            </a:r>
            <a:endParaRPr sz="1500"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875" y="260750"/>
            <a:ext cx="4336200" cy="463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5500" y="3114400"/>
            <a:ext cx="45072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lt2"/>
                </a:solidFill>
              </a:rPr>
              <a:t>Insight: </a:t>
            </a:r>
            <a:endParaRPr b="1" sz="1600" u="sng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Users with </a:t>
            </a:r>
            <a:r>
              <a:rPr b="1" lang="en">
                <a:solidFill>
                  <a:schemeClr val="dk1"/>
                </a:solidFill>
              </a:rPr>
              <a:t>moderate sleep (6–8 hrs)</a:t>
            </a:r>
            <a:r>
              <a:rPr lang="en"/>
              <a:t> generally show higher activity.</a:t>
            </a:r>
            <a:br>
              <a:rPr lang="en"/>
            </a:br>
            <a:r>
              <a:rPr lang="en"/>
              <a:t> Those with shorter sleep may be less active — likely due to </a:t>
            </a:r>
            <a:r>
              <a:rPr b="1" lang="en">
                <a:solidFill>
                  <a:schemeClr val="dk1"/>
                </a:solidFill>
              </a:rPr>
              <a:t>fatigue or poor recovery</a:t>
            </a:r>
            <a:r>
              <a:rPr lang="en"/>
              <a:t>.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</a:t>
            </a:r>
            <a:r>
              <a:rPr b="1" lang="en" sz="2700"/>
              <a:t> RECOMMENDATIONS</a:t>
            </a:r>
            <a:endParaRPr b="1" sz="2700"/>
          </a:p>
        </p:txBody>
      </p:sp>
      <p:sp>
        <p:nvSpPr>
          <p:cNvPr id="139" name="Google Shape;139;p18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1555">
                <a:solidFill>
                  <a:schemeClr val="lt1"/>
                </a:solidFill>
              </a:rPr>
              <a:t>Targeted Ads</a:t>
            </a:r>
            <a:endParaRPr b="1" sz="1555">
              <a:solidFill>
                <a:schemeClr val="lt1"/>
              </a:solidFill>
            </a:endParaRPr>
          </a:p>
        </p:txBody>
      </p:sp>
      <p:sp>
        <p:nvSpPr>
          <p:cNvPr id="141" name="Google Shape;141;p18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to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fitness-conscious consumers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emphasizing how the wearable app can help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sleep and exercise patterns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better performance</a:t>
            </a:r>
            <a:r>
              <a:rPr lang="en" sz="2200"/>
              <a:t> </a:t>
            </a:r>
            <a:endParaRPr sz="2200"/>
          </a:p>
        </p:txBody>
      </p:sp>
      <p:sp>
        <p:nvSpPr>
          <p:cNvPr id="142" name="Google Shape;142;p18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8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Gamification &amp; Challenges</a:t>
            </a:r>
            <a:endParaRPr b="1" sz="218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>
            <p:ph idx="4294967295" type="body"/>
          </p:nvPr>
        </p:nvSpPr>
        <p:spPr>
          <a:xfrm>
            <a:off x="3343284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 engaging in-app challenges that reward users for achieving 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balanced sleep and step goals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could earn 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badges, points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wellness streaks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encouraging long-term habit formation and a sense of accomplishment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23995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>
            <p:ph idx="4294967295" type="body"/>
          </p:nvPr>
        </p:nvSpPr>
        <p:spPr>
          <a:xfrm>
            <a:off x="6239958" y="1451563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b="1" lang="en" sz="175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Collaborate</a:t>
            </a:r>
            <a:endParaRPr sz="2295"/>
          </a:p>
        </p:txBody>
      </p:sp>
      <p:sp>
        <p:nvSpPr>
          <p:cNvPr id="147" name="Google Shape;147;p18"/>
          <p:cNvSpPr txBox="1"/>
          <p:nvPr>
            <p:ph idx="4294967295" type="body"/>
          </p:nvPr>
        </p:nvSpPr>
        <p:spPr>
          <a:xfrm>
            <a:off x="6254225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 with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sleep specialists, mindfulness apps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sleep tech startups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promote holistic sleep-health behavior — positioning Bellabeat as a </a:t>
            </a:r>
            <a:r>
              <a:rPr b="1"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360° wellness solution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20212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91825" y="769925"/>
            <a:ext cx="428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What the Chart Shows: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</a:t>
            </a:r>
            <a:r>
              <a:rPr b="1" lang="en" sz="1200">
                <a:solidFill>
                  <a:schemeClr val="dk1"/>
                </a:solidFill>
              </a:rPr>
              <a:t>positive correlation</a:t>
            </a:r>
            <a:r>
              <a:rPr lang="en" sz="1200"/>
              <a:t> between steps and calories burned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</a:t>
            </a:r>
            <a:r>
              <a:rPr b="1" lang="en" sz="1200">
                <a:solidFill>
                  <a:schemeClr val="dk1"/>
                </a:solidFill>
              </a:rPr>
              <a:t>steeper increase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/>
              <a:t>in calories burned beyond certain step counts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Some variability — not all high-step users burn the same number of calories</a:t>
            </a:r>
            <a:endParaRPr sz="1200"/>
          </a:p>
        </p:txBody>
      </p:sp>
      <p:sp>
        <p:nvSpPr>
          <p:cNvPr id="153" name="Google Shape;153;p19"/>
          <p:cNvSpPr txBox="1"/>
          <p:nvPr/>
        </p:nvSpPr>
        <p:spPr>
          <a:xfrm>
            <a:off x="100075" y="200525"/>
            <a:ext cx="433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 </a:t>
            </a:r>
            <a:r>
              <a:rPr b="1" lang="en" sz="2500">
                <a:solidFill>
                  <a:schemeClr val="dk1"/>
                </a:solidFill>
              </a:rPr>
              <a:t>Calories Burned vs</a:t>
            </a:r>
            <a:r>
              <a:rPr b="1" lang="en" sz="2500">
                <a:solidFill>
                  <a:schemeClr val="dk1"/>
                </a:solidFill>
              </a:rPr>
              <a:t> </a:t>
            </a:r>
            <a:r>
              <a:rPr b="1" lang="en" sz="2500">
                <a:solidFill>
                  <a:schemeClr val="dk1"/>
                </a:solidFill>
              </a:rPr>
              <a:t>Steps 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123775" y="2993525"/>
            <a:ext cx="42846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Key Insights:</a:t>
            </a:r>
            <a:endParaRPr b="1" sz="15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More steps = more calories burned</a:t>
            </a:r>
            <a:r>
              <a:rPr lang="en" sz="1300"/>
              <a:t>, but intensity plays a key role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Walking pace, metabolism, and movement style</a:t>
            </a:r>
            <a:r>
              <a:rPr lang="en" sz="1300"/>
              <a:t> affect individual outcomes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Short, </a:t>
            </a:r>
            <a:r>
              <a:rPr b="1" lang="en" sz="1300">
                <a:solidFill>
                  <a:schemeClr val="dk1"/>
                </a:solidFill>
              </a:rPr>
              <a:t>high-intensity bursts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/>
              <a:t>may boost calorie burn more than extra steps alone</a:t>
            </a:r>
            <a:br>
              <a:rPr lang="en" sz="1300"/>
            </a:br>
            <a:endParaRPr sz="1300"/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625" y="0"/>
            <a:ext cx="46233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</a:t>
            </a:r>
            <a:r>
              <a:rPr b="1" lang="en" sz="2700"/>
              <a:t> RECOMMENDATIONS</a:t>
            </a:r>
            <a:endParaRPr b="1" sz="2700"/>
          </a:p>
        </p:txBody>
      </p:sp>
      <p:sp>
        <p:nvSpPr>
          <p:cNvPr id="161" name="Google Shape;161;p20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1555">
                <a:solidFill>
                  <a:schemeClr val="lt1"/>
                </a:solidFill>
              </a:rPr>
              <a:t>Subscription-Based Coaching</a:t>
            </a:r>
            <a:endParaRPr b="1" sz="1555">
              <a:solidFill>
                <a:schemeClr val="lt1"/>
              </a:solidFill>
            </a:endParaRPr>
          </a:p>
        </p:txBody>
      </p:sp>
      <p:sp>
        <p:nvSpPr>
          <p:cNvPr id="163" name="Google Shape;163;p20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 </a:t>
            </a:r>
            <a:r>
              <a:rPr b="1"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premium 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like </a:t>
            </a:r>
            <a:r>
              <a:rPr b="1"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AI-driven coaching 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suggests the best movement patterns for optimized calorie burn</a:t>
            </a:r>
            <a:r>
              <a:rPr lang="en" sz="2400"/>
              <a:t> </a:t>
            </a:r>
            <a:endParaRPr sz="2400"/>
          </a:p>
        </p:txBody>
      </p:sp>
      <p:sp>
        <p:nvSpPr>
          <p:cNvPr id="164" name="Google Shape;164;p20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Nutrition Partnerships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>
            <p:ph idx="4294967295" type="body"/>
          </p:nvPr>
        </p:nvSpPr>
        <p:spPr>
          <a:xfrm>
            <a:off x="3343284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 with </a:t>
            </a:r>
            <a:r>
              <a:rPr b="1"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diet and nutrition brands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provide meal planning guidance tailored to users’ energy expenditure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23995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8" name="Google Shape;168;p20"/>
          <p:cNvSpPr txBox="1"/>
          <p:nvPr>
            <p:ph idx="4294967295" type="body"/>
          </p:nvPr>
        </p:nvSpPr>
        <p:spPr>
          <a:xfrm>
            <a:off x="6239958" y="1451563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b="1" lang="en" sz="165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Competitive Features</a:t>
            </a:r>
            <a:endParaRPr sz="1453"/>
          </a:p>
        </p:txBody>
      </p:sp>
      <p:sp>
        <p:nvSpPr>
          <p:cNvPr id="169" name="Google Shape;169;p20"/>
          <p:cNvSpPr txBox="1"/>
          <p:nvPr>
            <p:ph idx="4294967295" type="body"/>
          </p:nvPr>
        </p:nvSpPr>
        <p:spPr>
          <a:xfrm>
            <a:off x="6254225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202124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120250" y="2288625"/>
            <a:ext cx="3000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Introduce </a:t>
            </a:r>
            <a:r>
              <a:rPr b="1" lang="en" sz="1900">
                <a:solidFill>
                  <a:schemeClr val="dk1"/>
                </a:solidFill>
              </a:rPr>
              <a:t>leaderboards or challenges</a:t>
            </a:r>
            <a:r>
              <a:rPr lang="en" sz="1900"/>
              <a:t> where users compete based on step count and calories burned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159325" y="-9586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80">
                <a:solidFill>
                  <a:schemeClr val="dk1"/>
                </a:solidFill>
              </a:rPr>
              <a:t>BMI Trends </a:t>
            </a:r>
            <a:endParaRPr sz="2680">
              <a:solidFill>
                <a:schemeClr val="dk1"/>
              </a:solidFill>
            </a:endParaRPr>
          </a:p>
        </p:txBody>
      </p:sp>
      <p:sp>
        <p:nvSpPr>
          <p:cNvPr id="176" name="Google Shape;17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59325" y="582625"/>
            <a:ext cx="42966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Key Points from BMI Charts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User 1:</a:t>
            </a:r>
            <a:r>
              <a:rPr lang="en"/>
              <a:t> Sharp BMI decline over a short period (Jan 3–7, 2016) — indicates rapid change.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User 2:</a:t>
            </a:r>
            <a:r>
              <a:rPr lang="en"/>
              <a:t> Frequent BMI fluctuations over a longer period (Apr 13–May 3, 2016) — shows variability in habits.</a:t>
            </a:r>
            <a:br>
              <a:rPr lang="en"/>
            </a:b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33625" y="2312200"/>
            <a:ext cx="42966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Insights</a:t>
            </a:r>
            <a:endParaRPr b="1" sz="16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Engagement Patterns</a:t>
            </a:r>
            <a:r>
              <a:rPr b="1" lang="en"/>
              <a:t>:</a:t>
            </a:r>
            <a:r>
              <a:rPr lang="en"/>
              <a:t> Some users show rapid progress; others exhibit fluctuating trends.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Personalized Approach Needed:</a:t>
            </a:r>
            <a:r>
              <a:rPr lang="en"/>
              <a:t> Tailor recommendations—motivate consistency or improve progress tracking.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Timeframe Matters: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Quick changes suit short-term feedback; fluctuations require long-term analysis.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</a:t>
            </a:r>
            <a:r>
              <a:rPr b="1" lang="en" sz="2700"/>
              <a:t> RECOMMENDATIONS</a:t>
            </a:r>
            <a:endParaRPr b="1" sz="2700"/>
          </a:p>
        </p:txBody>
      </p:sp>
      <p:sp>
        <p:nvSpPr>
          <p:cNvPr id="185" name="Google Shape;185;p22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1555">
                <a:solidFill>
                  <a:schemeClr val="lt1"/>
                </a:solidFill>
              </a:rPr>
              <a:t>Personalization</a:t>
            </a:r>
            <a:endParaRPr b="1" sz="1555">
              <a:solidFill>
                <a:schemeClr val="lt1"/>
              </a:solidFill>
            </a:endParaRPr>
          </a:p>
        </p:txBody>
      </p:sp>
      <p:sp>
        <p:nvSpPr>
          <p:cNvPr id="187" name="Google Shape;187;p22"/>
          <p:cNvSpPr txBox="1"/>
          <p:nvPr>
            <p:ph idx="4294967295" type="body"/>
          </p:nvPr>
        </p:nvSpPr>
        <p:spPr>
          <a:xfrm>
            <a:off x="432325" y="2104875"/>
            <a:ext cx="27606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02124"/>
                </a:solidFill>
              </a:rPr>
              <a:t>Market different wellness plans based on </a:t>
            </a:r>
            <a:r>
              <a:rPr b="1" lang="en" sz="1600">
                <a:solidFill>
                  <a:schemeClr val="dk1"/>
                </a:solidFill>
              </a:rPr>
              <a:t>engagement types</a:t>
            </a:r>
            <a:r>
              <a:rPr lang="en" sz="1600">
                <a:solidFill>
                  <a:srgbClr val="202124"/>
                </a:solidFill>
              </a:rPr>
              <a:t>—users seeing rapid results may appreciate achievement-based rewards, while</a:t>
            </a:r>
            <a:r>
              <a:rPr lang="en" sz="1600"/>
              <a:t> f</a:t>
            </a:r>
            <a:r>
              <a:rPr b="1" lang="en" sz="1600">
                <a:solidFill>
                  <a:schemeClr val="dk1"/>
                </a:solidFill>
              </a:rPr>
              <a:t>luctuating users</a:t>
            </a:r>
            <a:r>
              <a:rPr lang="en" sz="1600"/>
              <a:t> </a:t>
            </a:r>
            <a:r>
              <a:rPr lang="en" sz="1600">
                <a:solidFill>
                  <a:srgbClr val="000000"/>
                </a:solidFill>
              </a:rPr>
              <a:t>might prefer </a:t>
            </a:r>
            <a:r>
              <a:rPr b="1" lang="en" sz="1600">
                <a:solidFill>
                  <a:schemeClr val="dk1"/>
                </a:solidFill>
              </a:rPr>
              <a:t>long-term coaching or stability-focused plans.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Progress Visualization Tools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>
            <p:ph idx="4294967295" type="body"/>
          </p:nvPr>
        </p:nvSpPr>
        <p:spPr>
          <a:xfrm>
            <a:off x="3343284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Promote </a:t>
            </a:r>
            <a:r>
              <a:rPr b="1"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feedback 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app—clear visual trends help users understand </a:t>
            </a:r>
            <a:r>
              <a:rPr b="1" lang="e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encouraging engagement.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23995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2" name="Google Shape;192;p22"/>
          <p:cNvSpPr txBox="1"/>
          <p:nvPr>
            <p:ph idx="4294967295" type="body"/>
          </p:nvPr>
        </p:nvSpPr>
        <p:spPr>
          <a:xfrm>
            <a:off x="6239958" y="1451563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b="1" lang="en" sz="165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Targeted Messaging</a:t>
            </a:r>
            <a:endParaRPr sz="1453"/>
          </a:p>
        </p:txBody>
      </p:sp>
      <p:sp>
        <p:nvSpPr>
          <p:cNvPr id="193" name="Google Shape;193;p22"/>
          <p:cNvSpPr txBox="1"/>
          <p:nvPr>
            <p:ph idx="4294967295" type="body"/>
          </p:nvPr>
        </p:nvSpPr>
        <p:spPr>
          <a:xfrm>
            <a:off x="6254225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202124"/>
              </a:solidFill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120250" y="2288625"/>
            <a:ext cx="30000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Fitness enthusiasts vs. casual health trackers need different messaging—</a:t>
            </a:r>
            <a:r>
              <a:rPr b="1" lang="en" sz="1800">
                <a:solidFill>
                  <a:schemeClr val="dk1"/>
                </a:solidFill>
              </a:rPr>
              <a:t>motivational content</a:t>
            </a:r>
            <a:r>
              <a:rPr b="1" lang="en" sz="1900">
                <a:solidFill>
                  <a:schemeClr val="dk1"/>
                </a:solidFill>
              </a:rPr>
              <a:t> f</a:t>
            </a:r>
            <a:r>
              <a:rPr lang="en" sz="1900"/>
              <a:t>or rapid changers and educational content for fluctuating users.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6850"/>
            <a:ext cx="3281925" cy="328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825" y="1620925"/>
            <a:ext cx="4788025" cy="346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</a:t>
            </a:r>
            <a:r>
              <a:rPr b="1" lang="en" sz="2100"/>
              <a:t> </a:t>
            </a:r>
            <a:r>
              <a:rPr b="1" lang="en" sz="2100"/>
              <a:t>Other Noteworthy Insights</a:t>
            </a:r>
            <a:endParaRPr b="1" sz="2100"/>
          </a:p>
        </p:txBody>
      </p:sp>
      <p:sp>
        <p:nvSpPr>
          <p:cNvPr id="202" name="Google Shape;202;p23"/>
          <p:cNvSpPr txBox="1"/>
          <p:nvPr/>
        </p:nvSpPr>
        <p:spPr>
          <a:xfrm>
            <a:off x="379850" y="669275"/>
            <a:ext cx="2748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users stay in 60–90 BPM — resting zones; potential to target cardio training</a:t>
            </a:r>
            <a:endParaRPr sz="17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203" name="Google Shape;203;p2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{9592D1F9-7FE0-4908-94B3-2022CEF07991}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4" name="Google Shape;204;p23"/>
          <p:cNvGraphicFramePr/>
          <p:nvPr/>
        </p:nvGraphicFramePr>
        <p:xfrm>
          <a:off x="4433750" y="75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{9592D1F9-7FE0-4908-94B3-2022CEF07991}</a:tableStyleId>
              </a:tblPr>
              <a:tblGrid>
                <a:gridCol w="39814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Users walk most on Tue/Wed — ideal days for in-app challenges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  </a:t>
            </a:r>
            <a:r>
              <a:rPr b="1" lang="en" sz="2100"/>
              <a:t>  </a:t>
            </a:r>
            <a:r>
              <a:rPr b="1" lang="en" sz="2100"/>
              <a:t>Other Noteworthy Insights</a:t>
            </a:r>
            <a:endParaRPr b="1" sz="2100"/>
          </a:p>
        </p:txBody>
      </p:sp>
      <p:pic>
        <p:nvPicPr>
          <p:cNvPr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552650"/>
            <a:ext cx="4186425" cy="34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176925" y="698600"/>
            <a:ext cx="397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Many users log manually — Bellabeat can reward consistency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 rotWithShape="1">
          <a:blip r:embed="rId4">
            <a:alphaModFix/>
          </a:blip>
          <a:srcRect b="0" l="7585" r="11121" t="9256"/>
          <a:stretch/>
        </p:blipFill>
        <p:spPr>
          <a:xfrm>
            <a:off x="5138425" y="1314200"/>
            <a:ext cx="3499350" cy="3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/>
        </p:nvSpPr>
        <p:spPr>
          <a:xfrm>
            <a:off x="4284675" y="619050"/>
            <a:ext cx="475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Bellabeat can support low-activity users with </a:t>
            </a:r>
            <a:r>
              <a:rPr b="1" lang="en">
                <a:solidFill>
                  <a:schemeClr val="dk1"/>
                </a:solidFill>
              </a:rPr>
              <a:t>baseline step tracking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gradual movement goals</a:t>
            </a:r>
            <a:r>
              <a:rPr lang="en">
                <a:solidFill>
                  <a:schemeClr val="dk1"/>
                </a:solidFill>
              </a:rPr>
              <a:t> to build healthier routines.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25"/>
          <p:cNvGraphicFramePr/>
          <p:nvPr/>
        </p:nvGraphicFramePr>
        <p:xfrm>
          <a:off x="49125" y="109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{9592D1F9-7FE0-4908-94B3-2022CEF07991}</a:tableStyleId>
              </a:tblPr>
              <a:tblGrid>
                <a:gridCol w="2692850"/>
                <a:gridCol w="3536750"/>
                <a:gridCol w="2816150"/>
              </a:tblGrid>
              <a:tr h="294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🎯 User Insight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💡 Recommendation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📈 Business Value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 users are highly sedentary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Introduce </a:t>
                      </a:r>
                      <a:r>
                        <a:rPr b="1" lang="en" sz="1100"/>
                        <a:t>gentle step nudges</a:t>
                      </a:r>
                      <a:r>
                        <a:rPr lang="en" sz="1100"/>
                        <a:t> and </a:t>
                      </a:r>
                      <a:r>
                        <a:rPr b="1" lang="en" sz="1100"/>
                        <a:t>daily movement streaks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Improves </a:t>
                      </a:r>
                      <a:r>
                        <a:rPr b="1" lang="en" sz="1100"/>
                        <a:t>engagement</a:t>
                      </a:r>
                      <a:r>
                        <a:rPr lang="en" sz="1100"/>
                        <a:t> among low-activity users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Most users have moderate sleep, but patterns vary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Provide </a:t>
                      </a:r>
                      <a:r>
                        <a:rPr b="1" lang="en" sz="1100"/>
                        <a:t>personalized sleep–activity balance tips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Increases </a:t>
                      </a:r>
                      <a:r>
                        <a:rPr b="1" lang="en" sz="1100"/>
                        <a:t>app usefulness</a:t>
                      </a:r>
                      <a:r>
                        <a:rPr lang="en" sz="1100"/>
                        <a:t> and trust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Heart rates fall within resting zones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Recommend </a:t>
                      </a:r>
                      <a:r>
                        <a:rPr b="1" lang="en" sz="1100"/>
                        <a:t>cardio-focused training suggestions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Helps users </a:t>
                      </a:r>
                      <a:r>
                        <a:rPr b="1" lang="en" sz="1100"/>
                        <a:t>level up fitness</a:t>
                      </a:r>
                      <a:r>
                        <a:rPr lang="en" sz="1100"/>
                        <a:t> using in-app plans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Manual weight logging is common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Offer </a:t>
                      </a:r>
                      <a:r>
                        <a:rPr b="1" lang="en" sz="1100"/>
                        <a:t>reward badges</a:t>
                      </a:r>
                      <a:r>
                        <a:rPr lang="en" sz="1100"/>
                        <a:t> for consistent loggers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Builds </a:t>
                      </a:r>
                      <a:r>
                        <a:rPr b="1" lang="en" sz="1100"/>
                        <a:t>user loyalty</a:t>
                      </a:r>
                      <a:r>
                        <a:rPr lang="en" sz="1100"/>
                        <a:t> and routine behavior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Engagement drops on weekends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Push </a:t>
                      </a:r>
                      <a:r>
                        <a:rPr b="1" lang="en" sz="1100"/>
                        <a:t>weekend mini-challenges</a:t>
                      </a:r>
                      <a:r>
                        <a:rPr lang="en" sz="1100"/>
                        <a:t> and </a:t>
                      </a:r>
                      <a:r>
                        <a:rPr b="1" lang="en" sz="1100"/>
                        <a:t>social leaderboards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Sustains </a:t>
                      </a:r>
                      <a:r>
                        <a:rPr b="1" lang="en" sz="1100"/>
                        <a:t>weekly activity streaks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METs are rare in some users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Educate users on </a:t>
                      </a:r>
                      <a:r>
                        <a:rPr b="1" lang="en" sz="1100"/>
                        <a:t>energy zones</a:t>
                      </a:r>
                      <a:r>
                        <a:rPr lang="en" sz="1100"/>
                        <a:t> and suggest </a:t>
                      </a:r>
                      <a:r>
                        <a:rPr b="1" lang="en" sz="1100"/>
                        <a:t>more active goals</a:t>
                      </a:r>
                      <a:endParaRPr b="1"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Drives </a:t>
                      </a:r>
                      <a:r>
                        <a:rPr b="1" lang="en" sz="1100"/>
                        <a:t>goal-setting</a:t>
                      </a:r>
                      <a:r>
                        <a:rPr lang="en" sz="1100"/>
                        <a:t> behavior</a:t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</a:t>
            </a:r>
            <a:r>
              <a:rPr b="1" lang="en" sz="1900"/>
              <a:t>               Impact &amp; Business Value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49125" y="680525"/>
            <a:ext cx="742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/>
              <a:t>Based on the data-driven visual insights, we recommend.</a:t>
            </a:r>
            <a:endParaRPr b="1" i="1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</a:t>
            </a:r>
            <a:r>
              <a:rPr b="1" lang="en" sz="2500"/>
              <a:t>  </a:t>
            </a:r>
            <a:r>
              <a:rPr b="1" lang="en" sz="2500"/>
              <a:t>Personal Reflection or Learning</a:t>
            </a:r>
            <a:endParaRPr b="1" sz="2500"/>
          </a:p>
        </p:txBody>
      </p:sp>
      <p:sp>
        <p:nvSpPr>
          <p:cNvPr id="226" name="Google Shape;226;p26"/>
          <p:cNvSpPr txBox="1"/>
          <p:nvPr/>
        </p:nvSpPr>
        <p:spPr>
          <a:xfrm>
            <a:off x="98250" y="1336175"/>
            <a:ext cx="8826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Learned to clean and analyze multi-granular data (daily, hourly, per second)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Applied R, spreadsheets, and visual storytelling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Developed strategic thinking by translating data into marketing insights</a:t>
            </a:r>
            <a:br>
              <a:rPr lang="en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Improved documentation and reporting for real-world audiences</a:t>
            </a:r>
            <a:endParaRPr sz="1800"/>
          </a:p>
        </p:txBody>
      </p:sp>
      <p:sp>
        <p:nvSpPr>
          <p:cNvPr id="227" name="Google Shape;227;p26"/>
          <p:cNvSpPr txBox="1"/>
          <p:nvPr/>
        </p:nvSpPr>
        <p:spPr>
          <a:xfrm>
            <a:off x="224900" y="3571875"/>
            <a:ext cx="8112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800">
                <a:solidFill>
                  <a:schemeClr val="dk1"/>
                </a:solidFill>
              </a:rPr>
              <a:t>“This project helped me connect raw data to real human behavior — and tell a story that supports smarter decisions.”</a:t>
            </a:r>
            <a:endParaRPr b="1" i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&amp; Full Analysis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182500" y="969400"/>
            <a:ext cx="8487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/>
              <a:t>📁 Data Cleaning &amp; Preparation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complete data cleaning process — including dataset selection, duplicate handling, formatting, and preprocessing steps — is fully documented.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🔗 </a:t>
            </a:r>
            <a:r>
              <a:rPr i="1" lang="en"/>
              <a:t>View the documentation: </a:t>
            </a:r>
            <a:r>
              <a:rPr i="1" lang="en" u="sng">
                <a:solidFill>
                  <a:schemeClr val="hlink"/>
                </a:solidFill>
                <a:hlinkClick r:id="rId3"/>
              </a:rPr>
              <a:t>Bellabeat Data Cleaning and Preparation.doc</a:t>
            </a:r>
            <a:endParaRPr i="1" sz="1700"/>
          </a:p>
        </p:txBody>
      </p:sp>
      <p:sp>
        <p:nvSpPr>
          <p:cNvPr id="234" name="Google Shape;234;p27"/>
          <p:cNvSpPr txBox="1"/>
          <p:nvPr/>
        </p:nvSpPr>
        <p:spPr>
          <a:xfrm>
            <a:off x="307925" y="2571750"/>
            <a:ext cx="8156700" cy="20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/>
              <a:t>Detailed Analysis &amp; Visual Report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All charts, statistical insights, and visual interpretations were created using R and compiled into a clean, interactive HTML report.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🔗 </a:t>
            </a:r>
            <a:r>
              <a:rPr i="1" lang="en" sz="1300"/>
              <a:t>View the full report:</a:t>
            </a:r>
            <a:br>
              <a:rPr i="1" lang="en" sz="1300"/>
            </a:br>
            <a:r>
              <a:rPr lang="en" sz="1300"/>
              <a:t> </a:t>
            </a:r>
            <a:r>
              <a:rPr b="1" lang="en" sz="1300" u="sng">
                <a:solidFill>
                  <a:schemeClr val="hlink"/>
                </a:solidFill>
                <a:hlinkClick r:id="rId4"/>
              </a:rPr>
              <a:t>Click here to view the Bellabeat Analysis HTML Report</a:t>
            </a:r>
            <a:r>
              <a:rPr b="1" lang="en" sz="1300"/>
              <a:t>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/>
              <a:t>Also available as document :</a:t>
            </a:r>
            <a:r>
              <a:rPr b="1" lang="en" sz="1300" u="sng">
                <a:solidFill>
                  <a:schemeClr val="hlink"/>
                </a:solidFill>
                <a:hlinkClick r:id="rId5"/>
              </a:rPr>
              <a:t>Bellabeat Analysis </a:t>
            </a:r>
            <a:endParaRPr i="1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                                              C</a:t>
            </a:r>
            <a:r>
              <a:rPr b="1" lang="en" sz="2400"/>
              <a:t>ONCLUSION</a:t>
            </a:r>
            <a:endParaRPr b="1" sz="2400"/>
          </a:p>
        </p:txBody>
      </p:sp>
      <p:sp>
        <p:nvSpPr>
          <p:cNvPr id="240" name="Google Shape;240;p28"/>
          <p:cNvSpPr txBox="1"/>
          <p:nvPr/>
        </p:nvSpPr>
        <p:spPr>
          <a:xfrm>
            <a:off x="165650" y="1490875"/>
            <a:ext cx="8575200" cy="3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This project allowed me to apply real-world data analytics skills — from data cleaning and visualization to interpreting user behavior and recommending improvements.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Working with multi-level time series data taught me the importance of precision, personalization, and storytelling in wellness tech.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Bellabeat’s data tells a powerful story — and with the right features, the app can guide users not just to track their health, but to transform it.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